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97280"/>
            <a:ext cx="4937760" cy="4937760"/>
          </a:xfrm>
          <a:prstGeom prst="ellipse">
            <a:avLst/>
          </a:prstGeom>
          <a:solidFill>
            <a:srgbClr val="17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931920"/>
            <a:ext cx="3108960" cy="3108960"/>
          </a:xfrm>
          <a:prstGeom prst="ellipse">
            <a:avLst/>
          </a:prstGeom>
          <a:solidFill>
            <a:srgbClr val="14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692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0C2A8"/>
                </a:solidFill>
                <a:latin typeface="Times New Roman"/>
              </a:rPr>
              <a:t>Amrapali University, Haldwani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0C2A8"/>
                </a:solidFill>
                <a:latin typeface="Times New Roman"/>
              </a:rPr>
              <a:t>SUMMER INTERNSHIP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Times New Roman"/>
              </a:rPr>
              <a:t>ChurnIQ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0">
                <a:solidFill>
                  <a:srgbClr val="C6D2E8"/>
                </a:solidFill>
                <a:latin typeface="Times New Roman"/>
              </a:rPr>
              <a:t>Customer Churn Prediction &amp; Business Intelligence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584448"/>
            <a:ext cx="1828800" cy="4114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58768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Ashish Dumka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A8B8D4"/>
                </a:solidFill>
                <a:latin typeface="Times New Roman"/>
              </a:rPr>
              <a:t>Enrollment 2410302008  |  Semester 5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A8B8D4"/>
                </a:solidFill>
                <a:latin typeface="Times New Roman"/>
              </a:rPr>
              <a:t>B.Tech CSE (AI&amp;ML)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858768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00C2A8"/>
                </a:solidFill>
                <a:latin typeface="Times New Roman"/>
              </a:rPr>
              <a:t>Internship Organization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Aarsh Ai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A8B8D4"/>
                </a:solidFill>
                <a:latin typeface="Times New Roman"/>
              </a:rPr>
              <a:t>Industry Mentor: Swasti Mishra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A8B8D4"/>
                </a:solidFill>
                <a:latin typeface="Times New Roman"/>
              </a:rPr>
              <a:t>Faculty Mentor: Mrs. Sonali Mahajan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Times New Roman"/>
              </a:rPr>
              <a:t>Department of Computer Science &amp; Engineering   • 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Times New Roman"/>
              </a:rPr>
              <a:t>Why churn prediction matters for a subscription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1064240" cy="9525"/>
          </a:xfrm>
          <a:prstGeom prst="rect">
            <a:avLst/>
          </a:prstGeom>
          <a:solidFill>
            <a:srgbClr val="DD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5394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D5BFF"/>
                </a:solidFill>
                <a:latin typeface="Times New Roman"/>
              </a:rP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04288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Subscription businesses earn revenue on a recurring basis, so a departing customer removes predictable future income. Retaining an existing customer generally costs less than acquiring a new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691640"/>
            <a:ext cx="5394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D5BFF"/>
                </a:solidFill>
                <a:latin typeface="Times New Roman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304288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Churn is usually detected only after cancellation. A probability score alone does not tell a retention team who matters most or what action to take.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04164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B2638"/>
                </a:solidFill>
                <a:latin typeface="Times New Roman"/>
              </a:rPr>
              <a:t>Project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608576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26280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B2638"/>
                </a:solidFill>
                <a:latin typeface="Times New Roman"/>
              </a:rPr>
              <a:t>Validate, clean and analyse the customer dataset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010912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928616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B2638"/>
                </a:solidFill>
                <a:latin typeface="Times New Roman"/>
              </a:rPr>
              <a:t>Build a reusable preprocessing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413248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330952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B2638"/>
                </a:solidFill>
                <a:latin typeface="Times New Roman"/>
              </a:rPr>
              <a:t>Train and compare classification algorithms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4608576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526280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B2638"/>
                </a:solidFill>
                <a:latin typeface="Times New Roman"/>
              </a:rPr>
              <a:t>Convert predictions into risk scores and segments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5010912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928616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B2638"/>
                </a:solidFill>
                <a:latin typeface="Times New Roman"/>
              </a:rPr>
              <a:t>Generate a retention action for every customer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5413248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5330952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B2638"/>
                </a:solidFill>
                <a:latin typeface="Times New Roman"/>
              </a:rPr>
              <a:t>Present results through an interactive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Technologies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Times New Roman"/>
              </a:rPr>
              <a:t>Python analytical stack, organised in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1064240" cy="9525"/>
          </a:xfrm>
          <a:prstGeom prst="rect">
            <a:avLst/>
          </a:prstGeom>
          <a:solidFill>
            <a:srgbClr val="DD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7393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B2638"/>
                </a:solidFill>
                <a:latin typeface="Times New Roman"/>
              </a:rPr>
              <a:t>Python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048256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Times New Roman"/>
              </a:rPr>
              <a:t>Core 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4016" y="1664208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77393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B2638"/>
                </a:solidFill>
                <a:latin typeface="Times New Roman"/>
              </a:rPr>
              <a:t>pandas /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048256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Times New Roman"/>
              </a:rPr>
              <a:t>Data handling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1104" y="1664208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77393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B2638"/>
                </a:solidFill>
                <a:latin typeface="Times New Roman"/>
              </a:rPr>
              <a:t>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48256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Times New Roman"/>
              </a:rPr>
              <a:t>ML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505456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61518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B2638"/>
                </a:solidFill>
                <a:latin typeface="Times New Roman"/>
              </a:rPr>
              <a:t>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889504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Times New Roman"/>
              </a:rPr>
              <a:t>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14016" y="2505456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42032" y="261518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B2638"/>
                </a:solidFill>
                <a:latin typeface="Times New Roman"/>
              </a:rPr>
              <a:t>plotly / matplotlib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2889504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Times New Roman"/>
              </a:rPr>
              <a:t>Visualisation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2505456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61518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B2638"/>
                </a:solidFill>
                <a:latin typeface="Times New Roman"/>
              </a:rPr>
              <a:t>joblib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889504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Times New Roman"/>
              </a:rPr>
              <a:t>Persistence</a:t>
            </a:r>
          </a:p>
        </p:txBody>
      </p:sp>
      <p:pic>
        <p:nvPicPr>
          <p:cNvPr id="26" name="Picture 25" descr="dia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568" y="1645920"/>
            <a:ext cx="3453384" cy="30175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3520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2638"/>
                </a:solidFill>
                <a:latin typeface="Times New Roman"/>
              </a:rPr>
              <a:t>Layered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032504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950208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Presentation layer — the Streamlit application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434840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352544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Analytical layer — cleaning, modelling, segmentation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37176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754880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Persistence layer — datasets and saved model artefacts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239512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157216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11 modules, approximately 22,000 lines of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Dataset &amp; 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Times New Roman"/>
              </a:rPr>
              <a:t>Telco Customer Churn dataset, validated and cleaned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1064240" cy="9525"/>
          </a:xfrm>
          <a:prstGeom prst="rect">
            <a:avLst/>
          </a:prstGeom>
          <a:solidFill>
            <a:srgbClr val="DD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64208"/>
            <a:ext cx="2606040" cy="4572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7,043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05456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Times New Roman"/>
              </a:rPr>
              <a:t>Customer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664208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664208"/>
            <a:ext cx="2606040" cy="457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938528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505456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Times New Roman"/>
              </a:rPr>
              <a:t>Attributes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664208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664208"/>
            <a:ext cx="2606040" cy="4572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938528"/>
            <a:ext cx="2203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1,869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505456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Times New Roman"/>
              </a:rPr>
              <a:t>Churned customers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70848" y="1664208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70848" y="1664208"/>
            <a:ext cx="2560320" cy="4572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1938528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26.54%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50545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Times New Roman"/>
              </a:rPr>
              <a:t>Churn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36499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638"/>
                </a:solidFill>
                <a:latin typeface="Times New Roman"/>
              </a:rPr>
              <a:t>Preprocessing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877056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794760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Numerical (4): median imputation, then standard scaling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79392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97096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Categorical (15): most-frequent imputation, one-hot encoding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681728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599432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Built as a scikit-learn ColumnTransformer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084064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001768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Fitted on the training partition only, saved with the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364992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638"/>
                </a:solidFill>
                <a:latin typeface="Times New Roman"/>
              </a:rPr>
              <a:t>Data Quality &amp; Partitions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77056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3794760"/>
            <a:ext cx="4974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0 duplicate rows, 0 null values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9088" y="4279392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4197096"/>
            <a:ext cx="4974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11 blank TotalCharges values, all at tenure 0 — imputed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4681728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4599432"/>
            <a:ext cx="4974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Stratified 80 / 20 split: 5,634 train, 1,409 test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5084064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5001768"/>
            <a:ext cx="4974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1B2638"/>
                </a:solidFill>
                <a:latin typeface="Times New Roman"/>
              </a:rPr>
              <a:t>Fixed random state of 42 for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Times New Roman"/>
              </a:rPr>
              <a:t>The strongest churn indicators in the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1064240" cy="9525"/>
          </a:xfrm>
          <a:prstGeom prst="rect">
            <a:avLst/>
          </a:prstGeom>
          <a:solidFill>
            <a:srgbClr val="DD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5</a:t>
            </a:r>
          </a:p>
        </p:txBody>
      </p:sp>
      <p:pic>
        <p:nvPicPr>
          <p:cNvPr id="8" name="Picture 7" descr="fig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06" y="1627632"/>
            <a:ext cx="4762844" cy="3063240"/>
          </a:xfrm>
          <a:prstGeom prst="rect">
            <a:avLst/>
          </a:prstGeom>
        </p:spPr>
      </p:pic>
      <p:pic>
        <p:nvPicPr>
          <p:cNvPr id="9" name="Picture 8" descr="fig_ten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94" y="1627632"/>
            <a:ext cx="5375492" cy="3063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82803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638"/>
                </a:solidFill>
                <a:latin typeface="Times New Roman"/>
              </a:rPr>
              <a:t>Key Findings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257800"/>
            <a:ext cx="212140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36752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05A47"/>
                </a:solidFill>
                <a:latin typeface="Times New Roman"/>
              </a:rPr>
              <a:t>42.71%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7241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Month-to-month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7208" y="5257800"/>
            <a:ext cx="212140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536752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05A47"/>
                </a:solidFill>
                <a:latin typeface="Times New Roman"/>
              </a:rPr>
              <a:t>45.29%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57241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Electronic 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7488" y="5257800"/>
            <a:ext cx="212140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92" y="536752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05A47"/>
                </a:solidFill>
                <a:latin typeface="Times New Roman"/>
              </a:rPr>
              <a:t>52.94%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57241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First 6 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87768" y="5257800"/>
            <a:ext cx="212140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2" y="536752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05A47"/>
                </a:solidFill>
                <a:latin typeface="Times New Roman"/>
              </a:rPr>
              <a:t>41.64%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57241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No tech 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28048" y="5257800"/>
            <a:ext cx="212140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536752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00C2A8"/>
                </a:solidFill>
                <a:latin typeface="Times New Roman"/>
              </a:rPr>
              <a:t>6.61%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57241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Over 60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Machine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Times New Roman"/>
              </a:rPr>
              <a:t>Six algorithms compared on identical partitions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1064240" cy="9525"/>
          </a:xfrm>
          <a:prstGeom prst="rect">
            <a:avLst/>
          </a:prstGeom>
          <a:solidFill>
            <a:srgbClr val="DD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6</a:t>
            </a:r>
          </a:p>
        </p:txBody>
      </p:sp>
      <p:pic>
        <p:nvPicPr>
          <p:cNvPr id="8" name="Picture 7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6106"/>
            <a:ext cx="6035040" cy="34292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12280" y="1645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638"/>
                </a:solidFill>
                <a:latin typeface="Times New Roman"/>
              </a:rPr>
              <a:t>Selected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2048256"/>
            <a:ext cx="48280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2048256"/>
            <a:ext cx="4828032" cy="4572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221284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B2638"/>
                </a:solidFill>
                <a:latin typeface="Times New Roman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261518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Times New Roman"/>
              </a:rPr>
              <a:t>Highest F1 score 0.6226  •  CV F1 0.6293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3364992"/>
            <a:ext cx="4828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34472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B2638"/>
                </a:solidFill>
                <a:latin typeface="Times New Roman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44728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2D5BFF"/>
                </a:solidFill>
                <a:latin typeface="Times New Roman"/>
              </a:rPr>
              <a:t>76.08%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3767328"/>
            <a:ext cx="4828032" cy="384048"/>
          </a:xfrm>
          <a:prstGeom prst="rect">
            <a:avLst/>
          </a:prstGeom>
          <a:solidFill>
            <a:srgbClr val="EEF2F9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38496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B2638"/>
                </a:solidFill>
                <a:latin typeface="Times New Roman"/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84962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2D5BFF"/>
                </a:solidFill>
                <a:latin typeface="Times New Roman"/>
              </a:rPr>
              <a:t>53.56%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4169664"/>
            <a:ext cx="4828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2" y="4251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B2638"/>
                </a:solidFill>
                <a:latin typeface="Times New Roman"/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25196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2D5BFF"/>
                </a:solidFill>
                <a:latin typeface="Times New Roman"/>
              </a:rPr>
              <a:t>74.33%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4572000"/>
            <a:ext cx="4828032" cy="384048"/>
          </a:xfrm>
          <a:prstGeom prst="rect">
            <a:avLst/>
          </a:prstGeom>
          <a:solidFill>
            <a:srgbClr val="EEF2F9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465429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B2638"/>
                </a:solidFill>
                <a:latin typeface="Times New Roman"/>
              </a:rPr>
              <a:t>F1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65429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2D5BFF"/>
                </a:solidFill>
                <a:latin typeface="Times New Roman"/>
              </a:rPr>
              <a:t>62.26%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4974336"/>
            <a:ext cx="4828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50566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B2638"/>
                </a:solidFill>
                <a:latin typeface="Times New Roman"/>
              </a:rPr>
              <a:t>ROC-AUC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50566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2D5BFF"/>
                </a:solidFill>
                <a:latin typeface="Times New Roman"/>
              </a:rPr>
              <a:t>83.69%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376672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Times New Roman"/>
              </a:rPr>
              <a:t>Note: the training module ranks by F1 and saves Random Forest, while the dashboard ranks by ROC-AUC and reports Gradient Boosting (0.8437). Both are correct under their own criterion.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Customer Intelligence &amp;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Times New Roman"/>
              </a:rPr>
              <a:t>Turning probabilities into prioritised, actionable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1064240" cy="9525"/>
          </a:xfrm>
          <a:prstGeom prst="rect">
            <a:avLst/>
          </a:prstGeom>
          <a:solidFill>
            <a:srgbClr val="DD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638"/>
                </a:solidFill>
                <a:latin typeface="Times New Roman"/>
              </a:rPr>
              <a:t>Risk Score (0-100)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2996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70% predicted probability, adjusted for tenure, charges, contract type, payment method and technical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761488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761488"/>
            <a:ext cx="73152" cy="475488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B2638"/>
                </a:solidFill>
                <a:latin typeface="Times New Roman"/>
              </a:rP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8803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A06B"/>
                </a:solidFill>
                <a:latin typeface="Times New Roman"/>
              </a:rPr>
              <a:t>2,794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328416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328416"/>
            <a:ext cx="73152" cy="475488"/>
          </a:xfrm>
          <a:prstGeom prst="rect">
            <a:avLst/>
          </a:prstGeom>
          <a:solidFill>
            <a:srgbClr val="E0A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472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B2638"/>
                </a:solidFill>
                <a:latin typeface="Times New Roman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4472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0A130"/>
                </a:solidFill>
                <a:latin typeface="Times New Roman"/>
              </a:rPr>
              <a:t>1,937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895344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895344"/>
            <a:ext cx="73152" cy="475488"/>
          </a:xfrm>
          <a:prstGeom prst="rect">
            <a:avLst/>
          </a:prstGeom>
          <a:solidFill>
            <a:srgbClr val="E07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142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B2638"/>
                </a:solidFill>
                <a:latin typeface="Times New Roman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0142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07A30"/>
                </a:solidFill>
                <a:latin typeface="Times New Roman"/>
              </a:rPr>
              <a:t>1,349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62272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462272"/>
            <a:ext cx="73152" cy="475488"/>
          </a:xfrm>
          <a:prstGeom prst="rect">
            <a:avLst/>
          </a:prstGeom>
          <a:solidFill>
            <a:srgbClr val="D6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8114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B2638"/>
                </a:solidFill>
                <a:latin typeface="Times New Roman"/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5811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D63F3F"/>
                </a:solidFill>
                <a:latin typeface="Times New Roman"/>
              </a:rPr>
              <a:t>963</a:t>
            </a:r>
          </a:p>
        </p:txBody>
      </p:sp>
      <p:pic>
        <p:nvPicPr>
          <p:cNvPr id="26" name="Picture 25" descr="fig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09927"/>
            <a:ext cx="5394960" cy="260156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63640" y="532180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Times New Roman"/>
              </a:rPr>
              <a:t>Six strategic segments combine risk with customer value, from Critical Retention through to Loyal.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Streamlit Dashboard &amp;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Times New Roman"/>
              </a:rPr>
              <a:t>Eleven pages, from executive summary to per-customer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1064240" cy="9525"/>
          </a:xfrm>
          <a:prstGeom prst="rect">
            <a:avLst/>
          </a:prstGeom>
          <a:solidFill>
            <a:srgbClr val="DD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1B2638"/>
                </a:solidFill>
                <a:latin typeface="Times New Roman"/>
              </a:rPr>
              <a:t>Executive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48256" y="1664208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9696" y="1783080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1B2638"/>
                </a:solidFill>
                <a:latin typeface="Times New Roman"/>
              </a:rPr>
              <a:t>Dataset Center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9584" y="1664208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783080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1B2638"/>
                </a:solidFill>
                <a:latin typeface="Times New Roman"/>
              </a:rPr>
              <a:t>Churn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0912" y="1664208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1783080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1B2638"/>
                </a:solidFill>
                <a:latin typeface="Times New Roman"/>
              </a:rPr>
              <a:t>Customer Segments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231136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35000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1B2638"/>
                </a:solidFill>
                <a:latin typeface="Times New Roman"/>
              </a:rPr>
              <a:t>Risk Center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48256" y="2231136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9696" y="235000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1B2638"/>
                </a:solidFill>
                <a:latin typeface="Times New Roman"/>
              </a:rPr>
              <a:t>Prediction Center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9584" y="2231136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235000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1B2638"/>
                </a:solidFill>
                <a:latin typeface="Times New Roman"/>
              </a:rPr>
              <a:t>Model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10912" y="2231136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2350008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1B2638"/>
                </a:solidFill>
                <a:latin typeface="Times New Roman"/>
              </a:rPr>
              <a:t>Customer Explorer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798064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916936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1B2638"/>
                </a:solidFill>
                <a:latin typeface="Times New Roman"/>
              </a:rPr>
              <a:t>Recommendations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48256" y="2798064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39696" y="2916936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1B2638"/>
                </a:solidFill>
                <a:latin typeface="Times New Roman"/>
              </a:rPr>
              <a:t>Reports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9584" y="2798064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21024" y="2916936"/>
            <a:ext cx="1225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1B2638"/>
                </a:solidFill>
                <a:latin typeface="Times New Roman"/>
              </a:rPr>
              <a:t>About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1645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638"/>
                </a:solidFill>
                <a:latin typeface="Times New Roman"/>
              </a:rPr>
              <a:t>Revenue Exposure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2048256"/>
            <a:ext cx="48280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2280" y="2048256"/>
            <a:ext cx="4828032" cy="4572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2231136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B2638"/>
                </a:solidFill>
                <a:latin typeface="Times New Roman"/>
              </a:rPr>
              <a:t>197,382.67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68833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Monthly revenue associated with at-risk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5204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2638"/>
                </a:solidFill>
                <a:latin typeface="Times New Roman"/>
              </a:rPr>
              <a:t>From Prediction to 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014216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3931920"/>
            <a:ext cx="53400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Recommended retention action per customer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398264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315968"/>
            <a:ext cx="53400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Engagement channel by retention priority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782312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4700016"/>
            <a:ext cx="53400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Six CSV reports available for export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166360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5084064"/>
            <a:ext cx="53400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Immediate outreach for 963 critical customers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35204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2638"/>
                </a:solidFill>
                <a:latin typeface="Times New Roman"/>
              </a:rPr>
              <a:t>Prioritised Action Plan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3931920"/>
            <a:ext cx="4828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04304" y="402336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B2638"/>
                </a:solidFill>
                <a:latin typeface="Times New Roman"/>
              </a:rPr>
              <a:t>Immediate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02336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5BFF"/>
                </a:solidFill>
                <a:latin typeface="Times New Roman"/>
              </a:rPr>
              <a:t>963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402336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Personal outreach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80" y="4352544"/>
            <a:ext cx="4828032" cy="384048"/>
          </a:xfrm>
          <a:prstGeom prst="rect">
            <a:avLst/>
          </a:prstGeom>
          <a:solidFill>
            <a:srgbClr val="EEF2F9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04304" y="444398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B2638"/>
                </a:solidFill>
                <a:latin typeface="Times New Roman"/>
              </a:rPr>
              <a:t>High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444398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5BFF"/>
                </a:solidFill>
                <a:latin typeface="Times New Roman"/>
              </a:rPr>
              <a:t>1,349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44439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Targeted campaign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80" y="4773168"/>
            <a:ext cx="4828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04304" y="486460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B2638"/>
                </a:solidFill>
                <a:latin typeface="Times New Roman"/>
              </a:rPr>
              <a:t>Monitor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486460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5BFF"/>
                </a:solidFill>
                <a:latin typeface="Times New Roman"/>
              </a:rPr>
              <a:t>1,937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40" y="4864608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Email / in-app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12280" y="5193792"/>
            <a:ext cx="4828032" cy="384048"/>
          </a:xfrm>
          <a:prstGeom prst="rect">
            <a:avLst/>
          </a:prstGeom>
          <a:solidFill>
            <a:srgbClr val="EEF2F9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04304" y="5285232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B2638"/>
                </a:solidFill>
                <a:latin typeface="Times New Roman"/>
              </a:rPr>
              <a:t>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285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D5BFF"/>
                </a:solidFill>
                <a:latin typeface="Times New Roman"/>
              </a:rPr>
              <a:t>2,794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64040" y="528523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Standard engagement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Results, Testing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Times New Roman"/>
              </a:rPr>
              <a:t>What the system achieved and where it would develop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1064240" cy="9525"/>
          </a:xfrm>
          <a:prstGeom prst="rect">
            <a:avLst/>
          </a:prstGeom>
          <a:solidFill>
            <a:srgbClr val="DD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Times New Roman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64208"/>
            <a:ext cx="2651760" cy="4572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62.26%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05456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Times New Roman"/>
              </a:rPr>
              <a:t>Best F1 (Random Forest)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8" y="1664208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1664208"/>
            <a:ext cx="2651760" cy="457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1938528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84.37%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505456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Times New Roman"/>
              </a:rPr>
              <a:t>Best ROC-AUC (Gradient Boosting)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664208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7648" y="1664208"/>
            <a:ext cx="2651760" cy="45720"/>
          </a:xfrm>
          <a:prstGeom prst="rect">
            <a:avLst/>
          </a:prstGeom>
          <a:solidFill>
            <a:srgbClr val="7A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938528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505456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Times New Roman"/>
              </a:rPr>
              <a:t>Test cases recorded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08008" y="1664208"/>
            <a:ext cx="2423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08008" y="1664208"/>
            <a:ext cx="242316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9176" y="1938528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638"/>
                </a:solidFill>
                <a:latin typeface="Times New Roman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505456"/>
            <a:ext cx="2020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Times New Roman"/>
              </a:rPr>
              <a:t>Modules delivered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23697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2638"/>
                </a:solidFill>
                <a:latin typeface="Times New Roman"/>
              </a:rPr>
              <a:t>Limitations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721608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639312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Evaluated on a single public dataset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105656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023360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Static snapshot — no time dimension in the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489704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407408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Risk weights set from observed patterns, not optimised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873752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791456"/>
            <a:ext cx="5157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No campaign-response data, so effectiveness is unmeasured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236976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2638"/>
                </a:solidFill>
                <a:latin typeface="Times New Roman"/>
              </a:rPr>
              <a:t>Future Scope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721608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3639312"/>
            <a:ext cx="4974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Add time-series features from billing history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9088" y="4105656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4023360"/>
            <a:ext cx="4974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Systematic hyperparameter tuning and threshold calibration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4489704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4407408"/>
            <a:ext cx="4974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Explainability per prediction using SHAP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873752"/>
            <a:ext cx="82296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4791456"/>
            <a:ext cx="4974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1B2638"/>
                </a:solidFill>
                <a:latin typeface="Times New Roman"/>
              </a:rPr>
              <a:t>Record campaign outcomes to measure retention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4132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Times New Roman"/>
              </a:rPr>
              <a:t>Testing: 11 cases executed against the code and 5 derived from implemented error-handling paths. No failing case was recorded.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3566160"/>
            <a:ext cx="4206240" cy="4206240"/>
          </a:xfrm>
          <a:prstGeom prst="ellipse">
            <a:avLst/>
          </a:prstGeom>
          <a:solidFill>
            <a:srgbClr val="17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828800" cy="4114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>
                <a:solidFill>
                  <a:srgbClr val="C6D2E8"/>
                </a:solidFill>
                <a:latin typeface="Times New Roman"/>
              </a:rPr>
              <a:t>ChurnIQ covers the full analytical path from a raw data file to an exported retention report — prediction, risk scoring, segmentation and recommendation, presented through an interactive dashboard.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3410712"/>
            <a:ext cx="91440" cy="9144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310128"/>
            <a:ext cx="6400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7,043 customers analysed and scored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3886200"/>
            <a:ext cx="91440" cy="9144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785616"/>
            <a:ext cx="6400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6 algorithms trained; Random Forest deployed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4361688"/>
            <a:ext cx="91440" cy="9144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61104"/>
            <a:ext cx="6400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4 risk levels and 6 strategic segments generated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4837176"/>
            <a:ext cx="91440" cy="9144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736592"/>
            <a:ext cx="6400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11-page dashboard with 6 CSV exports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3291840" cy="2286000"/>
          </a:xfrm>
          <a:prstGeom prst="rect">
            <a:avLst/>
          </a:prstGeom>
          <a:solidFill>
            <a:srgbClr val="141F3A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1214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C2A8"/>
                </a:solidFill>
                <a:latin typeface="Times New Roman"/>
              </a:rPr>
              <a:t>Key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42032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A ranked, explainable list of customers a retention team can act on — not a column of probabilities.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43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Times New Roman"/>
              </a:rPr>
              <a:t>The system prioritises customers statistically likely to churn; it does not guarantee retention.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63056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8A9AB8"/>
                </a:solidFill>
                <a:latin typeface="Times New Roman"/>
              </a:rPr>
              <a:t>Ashish Dumka  •  2410302008  •  Aarsh Ai  • 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